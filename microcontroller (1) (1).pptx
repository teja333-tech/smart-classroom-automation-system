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Oswald Medium"/>
      <p:regular r:id="rId25"/>
      <p:bold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Maven Pro"/>
      <p:regular r:id="rId31"/>
      <p:bold r:id="rId32"/>
    </p:embeddedFont>
    <p:embeddedFont>
      <p:font typeface="Oswald SemiBold"/>
      <p:regular r:id="rId33"/>
      <p:bold r:id="rId34"/>
    </p:embeddedFont>
    <p:embeddedFont>
      <p:font typeface="Oswald"/>
      <p:regular r:id="rId35"/>
      <p:bold r:id="rId36"/>
    </p:embeddedFont>
    <p:embeddedFont>
      <p:font typeface="Merriweather"/>
      <p:regular r:id="rId37"/>
      <p:bold r:id="rId38"/>
      <p:italic r:id="rId39"/>
      <p:boldItalic r:id="rId40"/>
    </p:embeddedFont>
    <p:embeddedFont>
      <p:font typeface="Comfortaa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C8D41C-436D-4A11-AEA7-58886DAC3C85}">
  <a:tblStyle styleId="{71C8D41C-436D-4A11-AEA7-58886DAC3C8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slide" Target="slides/slide14.xml"/><Relationship Id="rId42" Type="http://schemas.openxmlformats.org/officeDocument/2006/relationships/font" Target="fonts/Comfortaa-bold.fntdata"/><Relationship Id="rId41" Type="http://schemas.openxmlformats.org/officeDocument/2006/relationships/font" Target="fonts/Comfortaa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swaldMedium-bold.fntdata"/><Relationship Id="rId25" Type="http://schemas.openxmlformats.org/officeDocument/2006/relationships/font" Target="fonts/OswaldMedium-regular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venPro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5.xml"/><Relationship Id="rId33" Type="http://schemas.openxmlformats.org/officeDocument/2006/relationships/font" Target="fonts/Oswald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MavenPro-bold.fntdata"/><Relationship Id="rId13" Type="http://schemas.openxmlformats.org/officeDocument/2006/relationships/slide" Target="slides/slide7.xml"/><Relationship Id="rId35" Type="http://schemas.openxmlformats.org/officeDocument/2006/relationships/font" Target="fonts/Oswald-regular.fntdata"/><Relationship Id="rId12" Type="http://schemas.openxmlformats.org/officeDocument/2006/relationships/slide" Target="slides/slide6.xml"/><Relationship Id="rId34" Type="http://schemas.openxmlformats.org/officeDocument/2006/relationships/font" Target="fonts/OswaldSemiBold-bold.fntdata"/><Relationship Id="rId15" Type="http://schemas.openxmlformats.org/officeDocument/2006/relationships/slide" Target="slides/slide9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8.xml"/><Relationship Id="rId36" Type="http://schemas.openxmlformats.org/officeDocument/2006/relationships/font" Target="fonts/Oswald-bold.fntdata"/><Relationship Id="rId17" Type="http://schemas.openxmlformats.org/officeDocument/2006/relationships/slide" Target="slides/slide11.xml"/><Relationship Id="rId39" Type="http://schemas.openxmlformats.org/officeDocument/2006/relationships/font" Target="fonts/Merriweather-italic.fntdata"/><Relationship Id="rId16" Type="http://schemas.openxmlformats.org/officeDocument/2006/relationships/slide" Target="slides/slide10.xml"/><Relationship Id="rId38" Type="http://schemas.openxmlformats.org/officeDocument/2006/relationships/font" Target="fonts/Merriweather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7" name="Google Shape;5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4" name="Google Shape;56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0" name="Google Shape;590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14686006" y="6819351"/>
            <a:ext cx="3382844" cy="3465096"/>
            <a:chOff x="7343003" y="3409675"/>
            <a:chExt cx="1691422" cy="1732548"/>
          </a:xfrm>
        </p:grpSpPr>
        <p:grpSp>
          <p:nvGrpSpPr>
            <p:cNvPr id="13" name="Google Shape;13;p3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3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3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3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" name="Google Shape;20;p3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1" name="Google Shape;21;p3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" name="Google Shape;31;p3"/>
          <p:cNvGrpSpPr/>
          <p:nvPr/>
        </p:nvGrpSpPr>
        <p:grpSpPr>
          <a:xfrm>
            <a:off x="10087005" y="0"/>
            <a:ext cx="7628145" cy="7678203"/>
            <a:chOff x="5043503" y="0"/>
            <a:chExt cx="3814072" cy="3839102"/>
          </a:xfrm>
        </p:grpSpPr>
        <p:sp>
          <p:nvSpPr>
            <p:cNvPr id="32" name="Google Shape;32;p3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" name="Google Shape;34;p3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5" name="Google Shape;35;p3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3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3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0" name="Google Shape;40;p3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" name="Google Shape;42;p3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3"/>
          <p:cNvSpPr txBox="1"/>
          <p:nvPr>
            <p:ph type="ctrTitle"/>
          </p:nvPr>
        </p:nvSpPr>
        <p:spPr>
          <a:xfrm>
            <a:off x="1648000" y="3227625"/>
            <a:ext cx="8511000" cy="3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1648000" y="7192600"/>
            <a:ext cx="85110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293537" y="6812"/>
            <a:ext cx="2466428" cy="2769070"/>
            <a:chOff x="146769" y="3406"/>
            <a:chExt cx="1233214" cy="1384535"/>
          </a:xfrm>
        </p:grpSpPr>
        <p:grpSp>
          <p:nvGrpSpPr>
            <p:cNvPr id="53" name="Google Shape;53;p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4" name="Google Shape;54;p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" name="Google Shape;56;p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7" name="Google Shape;57;p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" name="Google Shape;60;p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1" name="Google Shape;61;p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" name="Google Shape;65;p4"/>
          <p:cNvGrpSpPr/>
          <p:nvPr/>
        </p:nvGrpSpPr>
        <p:grpSpPr>
          <a:xfrm>
            <a:off x="13550167" y="5808017"/>
            <a:ext cx="4372293" cy="4479000"/>
            <a:chOff x="6775084" y="2904008"/>
            <a:chExt cx="2186147" cy="2239500"/>
          </a:xfrm>
        </p:grpSpPr>
        <p:grpSp>
          <p:nvGrpSpPr>
            <p:cNvPr id="66" name="Google Shape;66;p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7" name="Google Shape;67;p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0" name="Google Shape;70;p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9" name="Google Shape;79;p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4" name="Google Shape;84;p4"/>
          <p:cNvSpPr txBox="1"/>
          <p:nvPr>
            <p:ph type="title"/>
          </p:nvPr>
        </p:nvSpPr>
        <p:spPr>
          <a:xfrm>
            <a:off x="1648000" y="3227650"/>
            <a:ext cx="11715600" cy="3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4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88" name="Google Shape;88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5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91" name="Google Shape;91;p5"/>
          <p:cNvSpPr txBox="1"/>
          <p:nvPr>
            <p:ph idx="1" type="body"/>
          </p:nvPr>
        </p:nvSpPr>
        <p:spPr>
          <a:xfrm>
            <a:off x="2607600" y="3980100"/>
            <a:ext cx="140610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2" name="Google Shape;92;p5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95" name="Google Shape;95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6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2607600" y="3980100"/>
            <a:ext cx="68610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2" type="body"/>
          </p:nvPr>
        </p:nvSpPr>
        <p:spPr>
          <a:xfrm>
            <a:off x="9807300" y="3980100"/>
            <a:ext cx="68610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0" name="Google Shape;100;p6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7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03" name="Google Shape;103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7"/>
          <p:cNvSpPr txBox="1"/>
          <p:nvPr>
            <p:ph type="title"/>
          </p:nvPr>
        </p:nvSpPr>
        <p:spPr>
          <a:xfrm>
            <a:off x="2607600" y="1197150"/>
            <a:ext cx="14061000" cy="19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8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09" name="Google Shape;109;p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8"/>
          <p:cNvSpPr txBox="1"/>
          <p:nvPr>
            <p:ph type="title"/>
          </p:nvPr>
        </p:nvSpPr>
        <p:spPr>
          <a:xfrm>
            <a:off x="2607600" y="1197150"/>
            <a:ext cx="6624000" cy="3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2607600" y="4619350"/>
            <a:ext cx="6624000" cy="44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9"/>
          <p:cNvGrpSpPr/>
          <p:nvPr/>
        </p:nvGrpSpPr>
        <p:grpSpPr>
          <a:xfrm>
            <a:off x="13733428" y="2512"/>
            <a:ext cx="4534759" cy="5203481"/>
            <a:chOff x="6790514" y="1255"/>
            <a:chExt cx="2267380" cy="2601741"/>
          </a:xfrm>
        </p:grpSpPr>
        <p:grpSp>
          <p:nvGrpSpPr>
            <p:cNvPr id="116" name="Google Shape;116;p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7" name="Google Shape;117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1" name="Google Shape;121;p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5" name="Google Shape;125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7" name="Google Shape;127;p9"/>
          <p:cNvSpPr txBox="1"/>
          <p:nvPr>
            <p:ph type="title"/>
          </p:nvPr>
        </p:nvSpPr>
        <p:spPr>
          <a:xfrm>
            <a:off x="1648000" y="1527200"/>
            <a:ext cx="11715600" cy="71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0"/>
          <p:cNvGrpSpPr/>
          <p:nvPr/>
        </p:nvGrpSpPr>
        <p:grpSpPr>
          <a:xfrm>
            <a:off x="1251932" y="598753"/>
            <a:ext cx="1998624" cy="1998624"/>
            <a:chOff x="348199" y="179450"/>
            <a:chExt cx="1116300" cy="1116300"/>
          </a:xfrm>
        </p:grpSpPr>
        <p:sp>
          <p:nvSpPr>
            <p:cNvPr id="131" name="Google Shape;131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0"/>
          <p:cNvSpPr txBox="1"/>
          <p:nvPr>
            <p:ph type="title"/>
          </p:nvPr>
        </p:nvSpPr>
        <p:spPr>
          <a:xfrm>
            <a:off x="2607600" y="1197150"/>
            <a:ext cx="6861000" cy="3980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" type="subTitle"/>
          </p:nvPr>
        </p:nvSpPr>
        <p:spPr>
          <a:xfrm>
            <a:off x="2607600" y="5486405"/>
            <a:ext cx="6861000" cy="145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5" name="Google Shape;135;p10"/>
          <p:cNvSpPr txBox="1"/>
          <p:nvPr>
            <p:ph idx="2" type="body"/>
          </p:nvPr>
        </p:nvSpPr>
        <p:spPr>
          <a:xfrm>
            <a:off x="9807400" y="1322000"/>
            <a:ext cx="6861000" cy="774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1"/>
          <p:cNvGrpSpPr/>
          <p:nvPr/>
        </p:nvGrpSpPr>
        <p:grpSpPr>
          <a:xfrm>
            <a:off x="1426746" y="7694237"/>
            <a:ext cx="1650784" cy="1650784"/>
            <a:chOff x="348199" y="179450"/>
            <a:chExt cx="1116300" cy="1116300"/>
          </a:xfrm>
        </p:grpSpPr>
        <p:sp>
          <p:nvSpPr>
            <p:cNvPr id="139" name="Google Shape;139;p1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2607600" y="8277950"/>
            <a:ext cx="116862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2"/>
          <p:cNvGrpSpPr/>
          <p:nvPr/>
        </p:nvGrpSpPr>
        <p:grpSpPr>
          <a:xfrm>
            <a:off x="104" y="8198400"/>
            <a:ext cx="18288071" cy="2088600"/>
            <a:chOff x="52" y="4099200"/>
            <a:chExt cx="9144036" cy="1044300"/>
          </a:xfrm>
        </p:grpSpPr>
        <p:grpSp>
          <p:nvGrpSpPr>
            <p:cNvPr id="145" name="Google Shape;145;p12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12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12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12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12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12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2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12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2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2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12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12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2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2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2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12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2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2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2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12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12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2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2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2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12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12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2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2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12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12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2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2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12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12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2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2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12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12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12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12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12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12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12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" name="Google Shape;225;p12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12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12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12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12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12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12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12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12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12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12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12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2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12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12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2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2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2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12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12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2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12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12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2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2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2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82850" lIns="182850" spcFirstLastPara="1" rIns="182850" wrap="square" tIns="18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0" name="Google Shape;270;p12"/>
          <p:cNvSpPr txBox="1"/>
          <p:nvPr>
            <p:ph hasCustomPrompt="1" type="title"/>
          </p:nvPr>
        </p:nvSpPr>
        <p:spPr>
          <a:xfrm>
            <a:off x="2777250" y="1545450"/>
            <a:ext cx="127338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2"/>
          <p:cNvSpPr txBox="1"/>
          <p:nvPr>
            <p:ph idx="1" type="body"/>
          </p:nvPr>
        </p:nvSpPr>
        <p:spPr>
          <a:xfrm>
            <a:off x="2777250" y="5424600"/>
            <a:ext cx="12733800" cy="22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  <a:defRPr>
                <a:solidFill>
                  <a:schemeClr val="lt1"/>
                </a:solidFill>
              </a:defRPr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Maven Pro"/>
              <a:buNone/>
              <a:defRPr b="1" i="0" sz="56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unito"/>
              <a:buChar char="●"/>
              <a:defRPr b="0" i="0" sz="2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b="0" i="0" sz="2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b="0" i="0" sz="2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●"/>
              <a:defRPr b="0" i="0" sz="2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b="0" i="0" sz="2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b="0" i="0" sz="2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●"/>
              <a:defRPr b="0" i="0" sz="2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○"/>
              <a:defRPr b="0" i="0" sz="2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unito"/>
              <a:buChar char="■"/>
              <a:defRPr b="0" i="0" sz="2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02092" y="947395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285350" y="326300"/>
            <a:ext cx="17053560" cy="4783455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278" name="Google Shape;278;p13"/>
          <p:cNvGrpSpPr/>
          <p:nvPr/>
        </p:nvGrpSpPr>
        <p:grpSpPr>
          <a:xfrm rot="-2489216">
            <a:off x="15608575" y="-1384880"/>
            <a:ext cx="7700344" cy="7104226"/>
            <a:chOff x="0" y="-38100"/>
            <a:chExt cx="2028074" cy="1871072"/>
          </a:xfrm>
        </p:grpSpPr>
        <p:sp>
          <p:nvSpPr>
            <p:cNvPr id="279" name="Google Shape;279;p13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280" name="Google Shape;280;p13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3"/>
          <p:cNvGrpSpPr/>
          <p:nvPr/>
        </p:nvGrpSpPr>
        <p:grpSpPr>
          <a:xfrm rot="-2489216">
            <a:off x="13927301" y="-8544648"/>
            <a:ext cx="7700344" cy="13889235"/>
            <a:chOff x="0" y="-38100"/>
            <a:chExt cx="2028074" cy="3658070"/>
          </a:xfrm>
        </p:grpSpPr>
        <p:sp>
          <p:nvSpPr>
            <p:cNvPr id="282" name="Google Shape;282;p13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283" name="Google Shape;283;p13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3"/>
          <p:cNvGrpSpPr/>
          <p:nvPr/>
        </p:nvGrpSpPr>
        <p:grpSpPr>
          <a:xfrm rot="-2489216">
            <a:off x="-2037718" y="9254989"/>
            <a:ext cx="7700344" cy="7104226"/>
            <a:chOff x="0" y="-38100"/>
            <a:chExt cx="2028074" cy="1871072"/>
          </a:xfrm>
        </p:grpSpPr>
        <p:sp>
          <p:nvSpPr>
            <p:cNvPr id="285" name="Google Shape;285;p13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286" name="Google Shape;286;p13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3"/>
          <p:cNvGrpSpPr/>
          <p:nvPr/>
        </p:nvGrpSpPr>
        <p:grpSpPr>
          <a:xfrm rot="-2489216">
            <a:off x="-4285080" y="5095687"/>
            <a:ext cx="7700344" cy="13889235"/>
            <a:chOff x="0" y="-38100"/>
            <a:chExt cx="2028074" cy="3658070"/>
          </a:xfrm>
        </p:grpSpPr>
        <p:sp>
          <p:nvSpPr>
            <p:cNvPr id="288" name="Google Shape;288;p13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289" name="Google Shape;289;p13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3"/>
          <p:cNvGrpSpPr/>
          <p:nvPr/>
        </p:nvGrpSpPr>
        <p:grpSpPr>
          <a:xfrm rot="-2489216">
            <a:off x="13952545" y="-757682"/>
            <a:ext cx="7700344" cy="2104508"/>
            <a:chOff x="0" y="-38100"/>
            <a:chExt cx="2028074" cy="554274"/>
          </a:xfrm>
        </p:grpSpPr>
        <p:sp>
          <p:nvSpPr>
            <p:cNvPr id="291" name="Google Shape;291;p13"/>
            <p:cNvSpPr/>
            <p:nvPr/>
          </p:nvSpPr>
          <p:spPr>
            <a:xfrm>
              <a:off x="0" y="0"/>
              <a:ext cx="2028074" cy="516174"/>
            </a:xfrm>
            <a:custGeom>
              <a:rect b="b" l="l" r="r" t="t"/>
              <a:pathLst>
                <a:path extrusionOk="0"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292" name="Google Shape;292;p13"/>
            <p:cNvSpPr txBox="1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3"/>
          <p:cNvGrpSpPr/>
          <p:nvPr/>
        </p:nvGrpSpPr>
        <p:grpSpPr>
          <a:xfrm rot="-2489216">
            <a:off x="-3693607" y="9880584"/>
            <a:ext cx="7700344" cy="2117279"/>
            <a:chOff x="0" y="-38100"/>
            <a:chExt cx="2028074" cy="557637"/>
          </a:xfrm>
        </p:grpSpPr>
        <p:sp>
          <p:nvSpPr>
            <p:cNvPr id="294" name="Google Shape;294;p13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295" name="Google Shape;295;p13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3"/>
          <p:cNvSpPr txBox="1"/>
          <p:nvPr/>
        </p:nvSpPr>
        <p:spPr>
          <a:xfrm>
            <a:off x="3944700" y="5727409"/>
            <a:ext cx="1039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12383206" y="8692803"/>
            <a:ext cx="468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1020400" y="786000"/>
            <a:ext cx="15196800" cy="3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9100"/>
              <a:buFont typeface="Arial"/>
              <a:buNone/>
            </a:pPr>
            <a:r>
              <a:rPr b="1" i="0" lang="en-US" sz="9100" u="none" cap="none" strike="noStrik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SMART  CLASSROOM       AUTOMATION  SYSTEM</a:t>
            </a:r>
            <a:endParaRPr b="1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2734575" y="5584300"/>
            <a:ext cx="113241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6500"/>
              </a:spcBef>
              <a:spcAft>
                <a:spcPts val="650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16151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3087075" y="6341738"/>
            <a:ext cx="10619100" cy="21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161515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1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306" name="Google Shape;306;p14"/>
          <p:cNvGrpSpPr/>
          <p:nvPr/>
        </p:nvGrpSpPr>
        <p:grpSpPr>
          <a:xfrm rot="-2489170">
            <a:off x="16496476" y="-2260312"/>
            <a:ext cx="7700347" cy="7104230"/>
            <a:chOff x="0" y="-38100"/>
            <a:chExt cx="2028074" cy="1871072"/>
          </a:xfrm>
        </p:grpSpPr>
        <p:sp>
          <p:nvSpPr>
            <p:cNvPr id="307" name="Google Shape;307;p14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308" name="Google Shape;308;p14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4"/>
          <p:cNvGrpSpPr/>
          <p:nvPr/>
        </p:nvGrpSpPr>
        <p:grpSpPr>
          <a:xfrm rot="-2489170">
            <a:off x="14632518" y="-9565976"/>
            <a:ext cx="7700347" cy="13889241"/>
            <a:chOff x="0" y="-38100"/>
            <a:chExt cx="2028074" cy="3658070"/>
          </a:xfrm>
        </p:grpSpPr>
        <p:sp>
          <p:nvSpPr>
            <p:cNvPr id="310" name="Google Shape;310;p14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311" name="Google Shape;311;p14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4"/>
          <p:cNvGrpSpPr/>
          <p:nvPr/>
        </p:nvGrpSpPr>
        <p:grpSpPr>
          <a:xfrm rot="-2489170">
            <a:off x="-3667117" y="8162582"/>
            <a:ext cx="7700347" cy="7104230"/>
            <a:chOff x="0" y="-38100"/>
            <a:chExt cx="2028074" cy="1871072"/>
          </a:xfrm>
        </p:grpSpPr>
        <p:sp>
          <p:nvSpPr>
            <p:cNvPr id="313" name="Google Shape;313;p14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314" name="Google Shape;314;p14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4"/>
          <p:cNvGrpSpPr/>
          <p:nvPr/>
        </p:nvGrpSpPr>
        <p:grpSpPr>
          <a:xfrm rot="-2489170">
            <a:off x="-5282188" y="5095784"/>
            <a:ext cx="7700347" cy="13889241"/>
            <a:chOff x="0" y="-38100"/>
            <a:chExt cx="2028074" cy="3658070"/>
          </a:xfrm>
        </p:grpSpPr>
        <p:sp>
          <p:nvSpPr>
            <p:cNvPr id="316" name="Google Shape;316;p14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317" name="Google Shape;317;p14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4"/>
          <p:cNvGrpSpPr/>
          <p:nvPr/>
        </p:nvGrpSpPr>
        <p:grpSpPr>
          <a:xfrm rot="-2489170">
            <a:off x="14840495" y="-1633061"/>
            <a:ext cx="7700347" cy="2104510"/>
            <a:chOff x="0" y="-38100"/>
            <a:chExt cx="2028074" cy="554274"/>
          </a:xfrm>
        </p:grpSpPr>
        <p:sp>
          <p:nvSpPr>
            <p:cNvPr id="319" name="Google Shape;319;p14"/>
            <p:cNvSpPr/>
            <p:nvPr/>
          </p:nvSpPr>
          <p:spPr>
            <a:xfrm>
              <a:off x="0" y="0"/>
              <a:ext cx="2028074" cy="516174"/>
            </a:xfrm>
            <a:custGeom>
              <a:rect b="b" l="l" r="r" t="t"/>
              <a:pathLst>
                <a:path extrusionOk="0"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320" name="Google Shape;320;p14"/>
            <p:cNvSpPr txBox="1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4"/>
          <p:cNvGrpSpPr/>
          <p:nvPr/>
        </p:nvGrpSpPr>
        <p:grpSpPr>
          <a:xfrm rot="-2489170">
            <a:off x="-5027058" y="9831980"/>
            <a:ext cx="7700347" cy="2117279"/>
            <a:chOff x="0" y="-38100"/>
            <a:chExt cx="2028074" cy="557637"/>
          </a:xfrm>
        </p:grpSpPr>
        <p:sp>
          <p:nvSpPr>
            <p:cNvPr id="322" name="Google Shape;322;p14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323" name="Google Shape;323;p14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4"/>
          <p:cNvSpPr txBox="1"/>
          <p:nvPr/>
        </p:nvSpPr>
        <p:spPr>
          <a:xfrm>
            <a:off x="2086647" y="216132"/>
            <a:ext cx="130227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75"/>
              <a:buFont typeface="Arial"/>
              <a:buNone/>
            </a:pPr>
            <a:r>
              <a:rPr b="0" i="0" lang="en-US" sz="6575" u="none" cap="none" strike="noStrike">
                <a:solidFill>
                  <a:srgbClr val="193B6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ABSTRACT</a:t>
            </a:r>
            <a:endParaRPr b="0" i="0" sz="100" u="none" cap="none" strike="noStrike">
              <a:solidFill>
                <a:srgbClr val="00000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3071475" y="1611775"/>
            <a:ext cx="12886200" cy="7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Smart Classroom Automation System</a:t>
            </a:r>
            <a:r>
              <a:rPr b="0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is an IoT-based automation project developed using an </a:t>
            </a:r>
            <a:r>
              <a:rPr b="1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STM32 microcontroller</a:t>
            </a:r>
            <a:r>
              <a:rPr b="0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 to improve energy efficiency and classroom comfort. The system monitors classroom conditions using a </a:t>
            </a:r>
            <a:r>
              <a:rPr b="1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PIR sensor, LDR sensor, and temperature sensor</a:t>
            </a:r>
            <a:r>
              <a:rPr b="0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. The PIR sensor detects the presence of people, the LDR measures the surrounding light intensity, and the temperature sensor monitors the room temperature.</a:t>
            </a:r>
            <a:endParaRPr b="0" i="0" sz="33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Based on the sensor readings, the STM32 automatically controls classroom </a:t>
            </a:r>
            <a:r>
              <a:rPr b="1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lights and fans</a:t>
            </a:r>
            <a:r>
              <a:rPr b="0" i="0" lang="en-US" sz="33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. An LCD displays real-time environmental information, while a Wi-Fi module can transmit monitoring and power-consumption information to a remote system. The system reduces unnecessary power consumption by operating electrical appliances according to actual classroom conditions.</a:t>
            </a:r>
            <a:endParaRPr b="0" i="0" sz="33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15"/>
          <p:cNvGrpSpPr/>
          <p:nvPr/>
        </p:nvGrpSpPr>
        <p:grpSpPr>
          <a:xfrm rot="-2489216">
            <a:off x="-2037718" y="9254989"/>
            <a:ext cx="7700344" cy="7104226"/>
            <a:chOff x="0" y="-38100"/>
            <a:chExt cx="2028074" cy="1871072"/>
          </a:xfrm>
        </p:grpSpPr>
        <p:sp>
          <p:nvSpPr>
            <p:cNvPr id="331" name="Google Shape;331;p15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332" name="Google Shape;332;p1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5"/>
          <p:cNvGrpSpPr/>
          <p:nvPr/>
        </p:nvGrpSpPr>
        <p:grpSpPr>
          <a:xfrm rot="-2489216">
            <a:off x="-4285080" y="5095687"/>
            <a:ext cx="7700344" cy="13889235"/>
            <a:chOff x="0" y="-38100"/>
            <a:chExt cx="2028074" cy="3658070"/>
          </a:xfrm>
        </p:grpSpPr>
        <p:sp>
          <p:nvSpPr>
            <p:cNvPr id="334" name="Google Shape;334;p15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335" name="Google Shape;335;p15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5"/>
          <p:cNvGrpSpPr/>
          <p:nvPr/>
        </p:nvGrpSpPr>
        <p:grpSpPr>
          <a:xfrm rot="-2489216">
            <a:off x="-3693607" y="9880584"/>
            <a:ext cx="7700344" cy="2117279"/>
            <a:chOff x="0" y="-38100"/>
            <a:chExt cx="2028074" cy="557637"/>
          </a:xfrm>
        </p:grpSpPr>
        <p:sp>
          <p:nvSpPr>
            <p:cNvPr id="337" name="Google Shape;337;p15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338" name="Google Shape;338;p15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15"/>
          <p:cNvSpPr txBox="1"/>
          <p:nvPr/>
        </p:nvSpPr>
        <p:spPr>
          <a:xfrm>
            <a:off x="3960425" y="650875"/>
            <a:ext cx="13676700" cy="10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1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INTRODUCTION</a:t>
            </a:r>
            <a:endParaRPr b="1" i="0" sz="51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Char char="●"/>
            </a:pP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Traditional classrooms depend largely on </a:t>
            </a:r>
            <a:r>
              <a:rPr b="1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manual control</a:t>
            </a: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lights and fans.</a:t>
            </a:r>
            <a:endParaRPr b="0" i="0" sz="3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Char char="●"/>
            </a:pP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Lights and fans may remain ON even when they are not required.</a:t>
            </a:r>
            <a:endParaRPr b="0" i="0" sz="3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Char char="●"/>
            </a:pP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Manual operation can lead to </a:t>
            </a:r>
            <a:r>
              <a:rPr b="1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unnecessary energy consumption</a:t>
            </a: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Char char="●"/>
            </a:pP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Classroom conditions such as </a:t>
            </a:r>
            <a:r>
              <a:rPr b="1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occupancy, light, temperature, and humidity</a:t>
            </a: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can be monitored automatically.</a:t>
            </a:r>
            <a:endParaRPr b="0" i="0" sz="3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Char char="●"/>
            </a:pP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proposed system uses </a:t>
            </a:r>
            <a:r>
              <a:rPr b="1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STM32 and sensors</a:t>
            </a: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automate classroom appliances.</a:t>
            </a:r>
            <a:endParaRPr b="0" i="0" sz="3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Char char="●"/>
            </a:pPr>
            <a:r>
              <a:rPr b="1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ESP32 provides Wi-Fi connectivity</a:t>
            </a:r>
            <a:r>
              <a:rPr b="0" i="0" lang="en-US" sz="3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for monitoring and IoT functionality.</a:t>
            </a:r>
            <a:endParaRPr b="0" i="0" sz="3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10792382" y="4001121"/>
            <a:ext cx="516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p15"/>
          <p:cNvGrpSpPr/>
          <p:nvPr/>
        </p:nvGrpSpPr>
        <p:grpSpPr>
          <a:xfrm rot="7565067">
            <a:off x="-2520681" y="-5514340"/>
            <a:ext cx="7700344" cy="7104226"/>
            <a:chOff x="0" y="-38100"/>
            <a:chExt cx="2028074" cy="1871072"/>
          </a:xfrm>
        </p:grpSpPr>
        <p:sp>
          <p:nvSpPr>
            <p:cNvPr id="342" name="Google Shape;342;p15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343" name="Google Shape;343;p15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15"/>
          <p:cNvGrpSpPr/>
          <p:nvPr/>
        </p:nvGrpSpPr>
        <p:grpSpPr>
          <a:xfrm rot="7565111">
            <a:off x="-2798694" y="-7780013"/>
            <a:ext cx="7700305" cy="9232545"/>
            <a:chOff x="0" y="-38100"/>
            <a:chExt cx="2028074" cy="2431629"/>
          </a:xfrm>
        </p:grpSpPr>
        <p:sp>
          <p:nvSpPr>
            <p:cNvPr id="345" name="Google Shape;345;p15"/>
            <p:cNvSpPr/>
            <p:nvPr/>
          </p:nvSpPr>
          <p:spPr>
            <a:xfrm>
              <a:off x="0" y="0"/>
              <a:ext cx="2028074" cy="2393529"/>
            </a:xfrm>
            <a:custGeom>
              <a:rect b="b" l="l" r="r" t="t"/>
              <a:pathLst>
                <a:path extrusionOk="0"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346" name="Google Shape;346;p15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15"/>
          <p:cNvGrpSpPr/>
          <p:nvPr/>
        </p:nvGrpSpPr>
        <p:grpSpPr>
          <a:xfrm rot="7565111">
            <a:off x="-1454086" y="-1552319"/>
            <a:ext cx="7700305" cy="2117267"/>
            <a:chOff x="0" y="-38100"/>
            <a:chExt cx="2028074" cy="557637"/>
          </a:xfrm>
        </p:grpSpPr>
        <p:sp>
          <p:nvSpPr>
            <p:cNvPr id="348" name="Google Shape;348;p15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349" name="Google Shape;349;p15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355" name="Google Shape;355;p16"/>
          <p:cNvGrpSpPr/>
          <p:nvPr/>
        </p:nvGrpSpPr>
        <p:grpSpPr>
          <a:xfrm rot="-2489216">
            <a:off x="-2037718" y="9254989"/>
            <a:ext cx="7700344" cy="7104226"/>
            <a:chOff x="0" y="-38100"/>
            <a:chExt cx="2028074" cy="1871072"/>
          </a:xfrm>
        </p:grpSpPr>
        <p:sp>
          <p:nvSpPr>
            <p:cNvPr id="356" name="Google Shape;356;p16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357" name="Google Shape;357;p16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6"/>
          <p:cNvGrpSpPr/>
          <p:nvPr/>
        </p:nvGrpSpPr>
        <p:grpSpPr>
          <a:xfrm rot="-2489216">
            <a:off x="-4285080" y="5095687"/>
            <a:ext cx="7700344" cy="13889235"/>
            <a:chOff x="0" y="-38100"/>
            <a:chExt cx="2028074" cy="3658070"/>
          </a:xfrm>
        </p:grpSpPr>
        <p:sp>
          <p:nvSpPr>
            <p:cNvPr id="359" name="Google Shape;359;p16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360" name="Google Shape;360;p16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16"/>
          <p:cNvGrpSpPr/>
          <p:nvPr/>
        </p:nvGrpSpPr>
        <p:grpSpPr>
          <a:xfrm rot="-2489216">
            <a:off x="-3693607" y="9880584"/>
            <a:ext cx="7700344" cy="2117279"/>
            <a:chOff x="0" y="-38100"/>
            <a:chExt cx="2028074" cy="557637"/>
          </a:xfrm>
        </p:grpSpPr>
        <p:sp>
          <p:nvSpPr>
            <p:cNvPr id="362" name="Google Shape;362;p16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363" name="Google Shape;363;p16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16"/>
          <p:cNvSpPr txBox="1"/>
          <p:nvPr/>
        </p:nvSpPr>
        <p:spPr>
          <a:xfrm>
            <a:off x="5627689" y="2080858"/>
            <a:ext cx="1032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5627689" y="3707158"/>
            <a:ext cx="142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7256069" y="6314186"/>
            <a:ext cx="87009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</a:pPr>
            <a:r>
              <a:t/>
            </a:r>
            <a:endParaRPr b="0" i="0" sz="3232" u="none" cap="none" strike="noStrike">
              <a:solidFill>
                <a:srgbClr val="193B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6"/>
          <p:cNvSpPr txBox="1"/>
          <p:nvPr/>
        </p:nvSpPr>
        <p:spPr>
          <a:xfrm>
            <a:off x="5627689" y="5875687"/>
            <a:ext cx="142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 txBox="1"/>
          <p:nvPr/>
        </p:nvSpPr>
        <p:spPr>
          <a:xfrm>
            <a:off x="1996375" y="252025"/>
            <a:ext cx="15186900" cy="9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2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PROBLEM STATEMENT</a:t>
            </a:r>
            <a:endParaRPr b="0" i="0" sz="2600" u="none" cap="none" strike="noStrike">
              <a:solidFill>
                <a:schemeClr val="dk2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Traditional classrooms often depend on manual control of lights and fans. This can result in: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Lights remaining ON when sufficient natural light is available.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Fans operating when the classroom is empty.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Electrical appliances being left ON after students leave.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Lack of real-time monitoring of classroom conditions.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Unnecessary electricity consumption.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Difficulty in monitoring classroom energy usage remotely.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Therefore, an automated system is required to monitor classroom conditions and control electrical appliances intelligently.</a:t>
            </a:r>
            <a:endParaRPr b="1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Sensors</a:t>
            </a:r>
            <a:endParaRPr b="1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PIR Sensor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— detects human presence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LDR Sensor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— measures light intensity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DHT11 Sensor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— measures temperature and humidity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Platform</a:t>
            </a:r>
            <a:endParaRPr b="1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STM32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— main control and processing platform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— Wi-Fi and IoT communication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Display Module</a:t>
            </a: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— real-time status display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"/>
          <p:cNvSpPr/>
          <p:nvPr/>
        </p:nvSpPr>
        <p:spPr>
          <a:xfrm>
            <a:off x="0" y="-14817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374" name="Google Shape;374;p17"/>
          <p:cNvGrpSpPr/>
          <p:nvPr/>
        </p:nvGrpSpPr>
        <p:grpSpPr>
          <a:xfrm rot="-2489170">
            <a:off x="-3715742" y="8257982"/>
            <a:ext cx="7700347" cy="7104230"/>
            <a:chOff x="0" y="-38100"/>
            <a:chExt cx="2028074" cy="1871072"/>
          </a:xfrm>
        </p:grpSpPr>
        <p:sp>
          <p:nvSpPr>
            <p:cNvPr id="375" name="Google Shape;375;p17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376" name="Google Shape;376;p17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17"/>
          <p:cNvGrpSpPr/>
          <p:nvPr/>
        </p:nvGrpSpPr>
        <p:grpSpPr>
          <a:xfrm rot="-2489216">
            <a:off x="-4285080" y="5095687"/>
            <a:ext cx="7700344" cy="13889235"/>
            <a:chOff x="0" y="-38100"/>
            <a:chExt cx="2028074" cy="3658070"/>
          </a:xfrm>
        </p:grpSpPr>
        <p:sp>
          <p:nvSpPr>
            <p:cNvPr id="378" name="Google Shape;378;p17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379" name="Google Shape;379;p17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17"/>
          <p:cNvGrpSpPr/>
          <p:nvPr/>
        </p:nvGrpSpPr>
        <p:grpSpPr>
          <a:xfrm rot="-2489170">
            <a:off x="-5882308" y="8129655"/>
            <a:ext cx="7700347" cy="2117279"/>
            <a:chOff x="0" y="-38100"/>
            <a:chExt cx="2028074" cy="557637"/>
          </a:xfrm>
        </p:grpSpPr>
        <p:sp>
          <p:nvSpPr>
            <p:cNvPr id="381" name="Google Shape;381;p17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382" name="Google Shape;382;p17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17"/>
          <p:cNvSpPr txBox="1"/>
          <p:nvPr/>
        </p:nvSpPr>
        <p:spPr>
          <a:xfrm>
            <a:off x="16291173" y="8674011"/>
            <a:ext cx="96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3243300" y="1789500"/>
            <a:ext cx="12261900" cy="6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main objectives are: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detect classroom occupancy using a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PIR sensor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measure ambient light intensity using an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LDR sensor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monitor classroom temperature using a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 sensor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automatically control lights according to occupancy and brightness.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automatically control fans according to temperature.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display sensor readings on an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LCD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transmit monitoring/power information using a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Wi-Fi module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unnecessary electricity consumption.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improve classroom comfort and automation.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17"/>
          <p:cNvGrpSpPr/>
          <p:nvPr/>
        </p:nvGrpSpPr>
        <p:grpSpPr>
          <a:xfrm rot="7565111">
            <a:off x="12232781" y="-8276388"/>
            <a:ext cx="7700305" cy="9232545"/>
            <a:chOff x="0" y="-38100"/>
            <a:chExt cx="2028074" cy="2431629"/>
          </a:xfrm>
        </p:grpSpPr>
        <p:sp>
          <p:nvSpPr>
            <p:cNvPr id="386" name="Google Shape;386;p17"/>
            <p:cNvSpPr/>
            <p:nvPr/>
          </p:nvSpPr>
          <p:spPr>
            <a:xfrm>
              <a:off x="0" y="0"/>
              <a:ext cx="2028074" cy="2393529"/>
            </a:xfrm>
            <a:custGeom>
              <a:rect b="b" l="l" r="r" t="t"/>
              <a:pathLst>
                <a:path extrusionOk="0"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387" name="Google Shape;387;p17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17"/>
          <p:cNvGrpSpPr/>
          <p:nvPr/>
        </p:nvGrpSpPr>
        <p:grpSpPr>
          <a:xfrm rot="7565111">
            <a:off x="15743614" y="-2623244"/>
            <a:ext cx="7700305" cy="2117267"/>
            <a:chOff x="0" y="-38100"/>
            <a:chExt cx="2028074" cy="557637"/>
          </a:xfrm>
        </p:grpSpPr>
        <p:sp>
          <p:nvSpPr>
            <p:cNvPr id="389" name="Google Shape;389;p17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390" name="Google Shape;390;p17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17"/>
          <p:cNvSpPr txBox="1"/>
          <p:nvPr/>
        </p:nvSpPr>
        <p:spPr>
          <a:xfrm>
            <a:off x="4403975" y="308275"/>
            <a:ext cx="8001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chemeClr val="dk2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OBJECTIVES</a:t>
            </a:r>
            <a:endParaRPr b="0" i="0" sz="5700" u="none" cap="none" strike="noStrike">
              <a:solidFill>
                <a:schemeClr val="dk2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397" name="Google Shape;397;p18"/>
          <p:cNvGrpSpPr/>
          <p:nvPr/>
        </p:nvGrpSpPr>
        <p:grpSpPr>
          <a:xfrm rot="-2489170">
            <a:off x="16143636" y="-1628001"/>
            <a:ext cx="7700347" cy="7104336"/>
            <a:chOff x="0" y="-38100"/>
            <a:chExt cx="2028074" cy="1871100"/>
          </a:xfrm>
        </p:grpSpPr>
        <p:sp>
          <p:nvSpPr>
            <p:cNvPr id="398" name="Google Shape;398;p18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399" name="Google Shape;399;p18"/>
            <p:cNvSpPr txBox="1"/>
            <p:nvPr/>
          </p:nvSpPr>
          <p:spPr>
            <a:xfrm>
              <a:off x="0" y="-38100"/>
              <a:ext cx="2028000" cy="18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p18"/>
          <p:cNvGrpSpPr/>
          <p:nvPr/>
        </p:nvGrpSpPr>
        <p:grpSpPr>
          <a:xfrm rot="-2489170">
            <a:off x="13927432" y="-8544613"/>
            <a:ext cx="7700347" cy="13889735"/>
            <a:chOff x="0" y="-38100"/>
            <a:chExt cx="2028074" cy="3658200"/>
          </a:xfrm>
        </p:grpSpPr>
        <p:sp>
          <p:nvSpPr>
            <p:cNvPr id="401" name="Google Shape;401;p18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402" name="Google Shape;402;p18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8"/>
          <p:cNvGrpSpPr/>
          <p:nvPr/>
        </p:nvGrpSpPr>
        <p:grpSpPr>
          <a:xfrm rot="-2489170">
            <a:off x="14487754" y="-1268396"/>
            <a:ext cx="7700347" cy="2104989"/>
            <a:chOff x="0" y="-38100"/>
            <a:chExt cx="2028074" cy="554400"/>
          </a:xfrm>
        </p:grpSpPr>
        <p:sp>
          <p:nvSpPr>
            <p:cNvPr id="404" name="Google Shape;404;p18"/>
            <p:cNvSpPr/>
            <p:nvPr/>
          </p:nvSpPr>
          <p:spPr>
            <a:xfrm>
              <a:off x="0" y="0"/>
              <a:ext cx="2028074" cy="516174"/>
            </a:xfrm>
            <a:custGeom>
              <a:rect b="b" l="l" r="r" t="t"/>
              <a:pathLst>
                <a:path extrusionOk="0"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405" name="Google Shape;405;p18"/>
            <p:cNvSpPr txBox="1"/>
            <p:nvPr/>
          </p:nvSpPr>
          <p:spPr>
            <a:xfrm>
              <a:off x="0" y="-38100"/>
              <a:ext cx="2028000" cy="5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8"/>
          <p:cNvSpPr txBox="1"/>
          <p:nvPr/>
        </p:nvSpPr>
        <p:spPr>
          <a:xfrm>
            <a:off x="1496947" y="478232"/>
            <a:ext cx="1302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93B6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FINAL SYSTEM OVERVIEW</a:t>
            </a:r>
            <a:endParaRPr b="0" i="0" sz="6000" u="none" cap="none" strike="noStrike">
              <a:solidFill>
                <a:srgbClr val="00000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07" name="Google Shape;407;p18"/>
          <p:cNvSpPr txBox="1"/>
          <p:nvPr/>
        </p:nvSpPr>
        <p:spPr>
          <a:xfrm>
            <a:off x="1296800" y="1818225"/>
            <a:ext cx="14658900" cy="7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follows the following process: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Sensors → STM32 → Decision Making → Appliance Control → LCD/Wi-Fi Monitoring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sequence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starts and initializes the STM32 peripherals.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PIR sensor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checks whether people are present.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LDR sensor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measures the brightness level.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 sensor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measures the room temperature.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STM32 processes the sensor readings.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people are detected and the room is dark, the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lights are switched ON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temperature exceeds the defined threshold, the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fan is switched ON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classroom is empty, unnecessary appliances are switched OFF.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LCD displays the current environmental conditions.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Wi-Fi module can send monitoring information to a remote system.</a:t>
            </a:r>
            <a:endParaRPr b="0" i="0" sz="3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413" name="Google Shape;413;p19"/>
          <p:cNvGrpSpPr/>
          <p:nvPr/>
        </p:nvGrpSpPr>
        <p:grpSpPr>
          <a:xfrm rot="-2489216">
            <a:off x="-2037718" y="9254989"/>
            <a:ext cx="7700344" cy="7104226"/>
            <a:chOff x="0" y="-38100"/>
            <a:chExt cx="2028074" cy="1871072"/>
          </a:xfrm>
        </p:grpSpPr>
        <p:sp>
          <p:nvSpPr>
            <p:cNvPr id="414" name="Google Shape;414;p19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415" name="Google Shape;415;p19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19"/>
          <p:cNvGrpSpPr/>
          <p:nvPr/>
        </p:nvGrpSpPr>
        <p:grpSpPr>
          <a:xfrm rot="-2489216">
            <a:off x="-4285080" y="5095687"/>
            <a:ext cx="7700344" cy="13889235"/>
            <a:chOff x="0" y="-38100"/>
            <a:chExt cx="2028074" cy="3658070"/>
          </a:xfrm>
        </p:grpSpPr>
        <p:sp>
          <p:nvSpPr>
            <p:cNvPr id="417" name="Google Shape;417;p19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418" name="Google Shape;418;p19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19"/>
          <p:cNvGrpSpPr/>
          <p:nvPr/>
        </p:nvGrpSpPr>
        <p:grpSpPr>
          <a:xfrm rot="-2489216">
            <a:off x="-3693607" y="9880584"/>
            <a:ext cx="7700344" cy="2117279"/>
            <a:chOff x="0" y="-38100"/>
            <a:chExt cx="2028074" cy="557637"/>
          </a:xfrm>
        </p:grpSpPr>
        <p:sp>
          <p:nvSpPr>
            <p:cNvPr id="420" name="Google Shape;420;p19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421" name="Google Shape;421;p19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2" name="Google Shape;422;p19"/>
          <p:cNvSpPr txBox="1"/>
          <p:nvPr/>
        </p:nvSpPr>
        <p:spPr>
          <a:xfrm>
            <a:off x="5627689" y="4001121"/>
            <a:ext cx="1032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9"/>
          <p:cNvSpPr txBox="1"/>
          <p:nvPr/>
        </p:nvSpPr>
        <p:spPr>
          <a:xfrm>
            <a:off x="16291173" y="8674011"/>
            <a:ext cx="96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4900" y="377250"/>
            <a:ext cx="13328174" cy="9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"/>
          <p:cNvSpPr/>
          <p:nvPr/>
        </p:nvSpPr>
        <p:spPr>
          <a:xfrm>
            <a:off x="43682" y="43682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430" name="Google Shape;430;p20"/>
          <p:cNvGrpSpPr/>
          <p:nvPr/>
        </p:nvGrpSpPr>
        <p:grpSpPr>
          <a:xfrm rot="-2489170">
            <a:off x="-3180717" y="9097932"/>
            <a:ext cx="7700347" cy="7104230"/>
            <a:chOff x="0" y="-38100"/>
            <a:chExt cx="2028074" cy="1871072"/>
          </a:xfrm>
        </p:grpSpPr>
        <p:sp>
          <p:nvSpPr>
            <p:cNvPr id="431" name="Google Shape;431;p20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432" name="Google Shape;432;p20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20"/>
          <p:cNvGrpSpPr/>
          <p:nvPr/>
        </p:nvGrpSpPr>
        <p:grpSpPr>
          <a:xfrm rot="-2489170">
            <a:off x="-7237863" y="1183434"/>
            <a:ext cx="7700347" cy="13889241"/>
            <a:chOff x="0" y="-38100"/>
            <a:chExt cx="2028074" cy="3658070"/>
          </a:xfrm>
        </p:grpSpPr>
        <p:sp>
          <p:nvSpPr>
            <p:cNvPr id="434" name="Google Shape;434;p20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435" name="Google Shape;435;p20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p20"/>
          <p:cNvGrpSpPr/>
          <p:nvPr/>
        </p:nvGrpSpPr>
        <p:grpSpPr>
          <a:xfrm rot="-2489170">
            <a:off x="-4503208" y="10118755"/>
            <a:ext cx="7700347" cy="2117279"/>
            <a:chOff x="0" y="-38100"/>
            <a:chExt cx="2028074" cy="557637"/>
          </a:xfrm>
        </p:grpSpPr>
        <p:sp>
          <p:nvSpPr>
            <p:cNvPr id="437" name="Google Shape;437;p20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438" name="Google Shape;438;p20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9" name="Google Shape;439;p20"/>
          <p:cNvSpPr txBox="1"/>
          <p:nvPr/>
        </p:nvSpPr>
        <p:spPr>
          <a:xfrm>
            <a:off x="16291173" y="8674011"/>
            <a:ext cx="96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0"/>
          <p:cNvSpPr txBox="1"/>
          <p:nvPr/>
        </p:nvSpPr>
        <p:spPr>
          <a:xfrm>
            <a:off x="5525000" y="7223126"/>
            <a:ext cx="109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p20"/>
          <p:cNvGrpSpPr/>
          <p:nvPr/>
        </p:nvGrpSpPr>
        <p:grpSpPr>
          <a:xfrm rot="7565111">
            <a:off x="-3180688" y="-5326718"/>
            <a:ext cx="7700305" cy="7104191"/>
            <a:chOff x="0" y="-38100"/>
            <a:chExt cx="2028074" cy="1871072"/>
          </a:xfrm>
        </p:grpSpPr>
        <p:sp>
          <p:nvSpPr>
            <p:cNvPr id="442" name="Google Shape;442;p20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443" name="Google Shape;443;p20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20"/>
          <p:cNvSpPr txBox="1"/>
          <p:nvPr/>
        </p:nvSpPr>
        <p:spPr>
          <a:xfrm>
            <a:off x="3322175" y="500350"/>
            <a:ext cx="13563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chemeClr val="dk2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MAJOR COMPONENTS</a:t>
            </a:r>
            <a:endParaRPr b="0" i="0" sz="7200" u="none" cap="none" strike="noStrike">
              <a:solidFill>
                <a:schemeClr val="dk2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graphicFrame>
        <p:nvGraphicFramePr>
          <p:cNvPr id="445" name="Google Shape;445;p20"/>
          <p:cNvGraphicFramePr/>
          <p:nvPr/>
        </p:nvGraphicFramePr>
        <p:xfrm>
          <a:off x="4096925" y="225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{71C8D41C-436D-4A11-AEA7-58886DAC3C85}</a:tableStyleId>
              </a:tblPr>
              <a:tblGrid>
                <a:gridCol w="5396900"/>
                <a:gridCol w="61972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600"/>
                        <a:buFont typeface="Arial"/>
                        <a:buNone/>
                      </a:pPr>
                      <a:r>
                        <a:rPr lang="en-US" sz="4600" u="none" cap="none" strike="noStrike">
                          <a:latin typeface="Impact"/>
                          <a:ea typeface="Impact"/>
                          <a:cs typeface="Impact"/>
                          <a:sym typeface="Impact"/>
                        </a:rPr>
                        <a:t>Component</a:t>
                      </a:r>
                      <a:endParaRPr sz="4600" u="none" cap="none" strike="noStrike">
                        <a:latin typeface="Impact"/>
                        <a:ea typeface="Impact"/>
                        <a:cs typeface="Impact"/>
                        <a:sym typeface="Impac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500"/>
                        <a:buFont typeface="Arial"/>
                        <a:buNone/>
                      </a:pPr>
                      <a:r>
                        <a:rPr lang="en-US" sz="4500" u="none" cap="none" strike="noStrike">
                          <a:latin typeface="Impact"/>
                          <a:ea typeface="Impact"/>
                          <a:cs typeface="Impact"/>
                          <a:sym typeface="Impact"/>
                        </a:rPr>
                        <a:t>Function</a:t>
                      </a:r>
                      <a:endParaRPr sz="4500" u="none" cap="none" strike="noStrike">
                        <a:latin typeface="Impact"/>
                        <a:ea typeface="Impact"/>
                        <a:cs typeface="Impact"/>
                        <a:sym typeface="Impac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STM32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Main microcontroller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PIR Sensor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Detects human presence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LDR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Measures light intensity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DHT11/Temperature Sensor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Measures temperature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Relay Module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Controls lights/fans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LCD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Displays sensor information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Wi-Fi Module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Remote communication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Power Supply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Provides required power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LEDs/Lamp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Represents classroom lighting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Fan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/>
                        <a:t>Provides temperature control</a:t>
                      </a:r>
                      <a:endParaRPr sz="3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6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451" name="Google Shape;451;p21"/>
          <p:cNvGrpSpPr/>
          <p:nvPr/>
        </p:nvGrpSpPr>
        <p:grpSpPr>
          <a:xfrm rot="-2489216">
            <a:off x="-2037718" y="9254989"/>
            <a:ext cx="7700344" cy="7104226"/>
            <a:chOff x="0" y="-38100"/>
            <a:chExt cx="2028074" cy="1871072"/>
          </a:xfrm>
        </p:grpSpPr>
        <p:sp>
          <p:nvSpPr>
            <p:cNvPr id="452" name="Google Shape;452;p21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453" name="Google Shape;453;p21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4" name="Google Shape;454;p21"/>
          <p:cNvGrpSpPr/>
          <p:nvPr/>
        </p:nvGrpSpPr>
        <p:grpSpPr>
          <a:xfrm rot="-2489216">
            <a:off x="-4285080" y="5095687"/>
            <a:ext cx="7700344" cy="13889235"/>
            <a:chOff x="0" y="-38100"/>
            <a:chExt cx="2028074" cy="3658070"/>
          </a:xfrm>
        </p:grpSpPr>
        <p:sp>
          <p:nvSpPr>
            <p:cNvPr id="455" name="Google Shape;455;p21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456" name="Google Shape;456;p21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p21"/>
          <p:cNvGrpSpPr/>
          <p:nvPr/>
        </p:nvGrpSpPr>
        <p:grpSpPr>
          <a:xfrm rot="-2489216">
            <a:off x="-3693607" y="9880584"/>
            <a:ext cx="7700344" cy="2117279"/>
            <a:chOff x="0" y="-38100"/>
            <a:chExt cx="2028074" cy="557637"/>
          </a:xfrm>
        </p:grpSpPr>
        <p:sp>
          <p:nvSpPr>
            <p:cNvPr id="458" name="Google Shape;458;p21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459" name="Google Shape;459;p2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21"/>
          <p:cNvSpPr txBox="1"/>
          <p:nvPr/>
        </p:nvSpPr>
        <p:spPr>
          <a:xfrm>
            <a:off x="16291173" y="8674011"/>
            <a:ext cx="96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13122631" y="4748893"/>
            <a:ext cx="363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1"/>
          <p:cNvSpPr txBox="1"/>
          <p:nvPr/>
        </p:nvSpPr>
        <p:spPr>
          <a:xfrm>
            <a:off x="13612322" y="5971331"/>
            <a:ext cx="210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3" name="Google Shape;463;p21"/>
          <p:cNvGrpSpPr/>
          <p:nvPr/>
        </p:nvGrpSpPr>
        <p:grpSpPr>
          <a:xfrm rot="7565067">
            <a:off x="-2520681" y="-5514340"/>
            <a:ext cx="7700344" cy="7104226"/>
            <a:chOff x="0" y="-38100"/>
            <a:chExt cx="2028074" cy="1871072"/>
          </a:xfrm>
        </p:grpSpPr>
        <p:sp>
          <p:nvSpPr>
            <p:cNvPr id="464" name="Google Shape;464;p21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465" name="Google Shape;465;p21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21"/>
          <p:cNvGrpSpPr/>
          <p:nvPr/>
        </p:nvGrpSpPr>
        <p:grpSpPr>
          <a:xfrm rot="7565067">
            <a:off x="-2042586" y="-7684708"/>
            <a:ext cx="7700344" cy="9232591"/>
            <a:chOff x="0" y="-38100"/>
            <a:chExt cx="2028074" cy="2431629"/>
          </a:xfrm>
        </p:grpSpPr>
        <p:sp>
          <p:nvSpPr>
            <p:cNvPr id="467" name="Google Shape;467;p21"/>
            <p:cNvSpPr/>
            <p:nvPr/>
          </p:nvSpPr>
          <p:spPr>
            <a:xfrm>
              <a:off x="0" y="0"/>
              <a:ext cx="2028074" cy="2393529"/>
            </a:xfrm>
            <a:custGeom>
              <a:rect b="b" l="l" r="r" t="t"/>
              <a:pathLst>
                <a:path extrusionOk="0"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468" name="Google Shape;468;p21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" name="Google Shape;469;p21"/>
          <p:cNvGrpSpPr/>
          <p:nvPr/>
        </p:nvGrpSpPr>
        <p:grpSpPr>
          <a:xfrm rot="7565067">
            <a:off x="-501588" y="-1553148"/>
            <a:ext cx="7700344" cy="2117279"/>
            <a:chOff x="0" y="-38100"/>
            <a:chExt cx="2028074" cy="557637"/>
          </a:xfrm>
        </p:grpSpPr>
        <p:sp>
          <p:nvSpPr>
            <p:cNvPr id="470" name="Google Shape;470;p21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471" name="Google Shape;471;p21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2" name="Google Shape;472;p21" title="ChatGPT Image Sep 25, 2026, 09_35_12 AM.png"/>
          <p:cNvPicPr preferRelativeResize="0"/>
          <p:nvPr/>
        </p:nvPicPr>
        <p:blipFill rotWithShape="1">
          <a:blip r:embed="rId4">
            <a:alphaModFix/>
          </a:blip>
          <a:srcRect b="4279" l="0" r="0" t="0"/>
          <a:stretch/>
        </p:blipFill>
        <p:spPr>
          <a:xfrm>
            <a:off x="1711509" y="589709"/>
            <a:ext cx="15290950" cy="90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sp>
        <p:nvSpPr>
          <p:cNvPr id="478" name="Google Shape;478;p22"/>
          <p:cNvSpPr txBox="1"/>
          <p:nvPr/>
        </p:nvSpPr>
        <p:spPr>
          <a:xfrm>
            <a:off x="1489672" y="81121"/>
            <a:ext cx="13022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rPr b="0" i="0" lang="en-US" sz="6700" u="none" cap="none" strike="noStrike">
                <a:solidFill>
                  <a:srgbClr val="193B6A"/>
                </a:solidFill>
                <a:latin typeface="Oswald Medium"/>
                <a:ea typeface="Oswald Medium"/>
                <a:cs typeface="Oswald Medium"/>
                <a:sym typeface="Oswald Medium"/>
              </a:rPr>
              <a:t>CORE  FEATURES IMPLEMENTED</a:t>
            </a:r>
            <a:endParaRPr b="0" i="0" sz="6700" u="none" cap="none" strike="noStrike">
              <a:solidFill>
                <a:srgbClr val="000000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1088575" y="1303025"/>
            <a:ext cx="8688900" cy="85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Automatic Occupancy Detection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PIR sensor detects movement/presence inside the classroom.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Automatic Light Control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LDR measures the brightness of the room.</a:t>
            </a:r>
            <a:endParaRPr b="0" i="0" sz="2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Automatic Fan Control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temperature sensor provides the classroom temperature.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LCD Monitoring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LCD can display: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Temperature: 28°C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Light: LOW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Person: YES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Fan: 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Light: 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10076700" y="2027525"/>
            <a:ext cx="7647300" cy="57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Wi-Fi Monitoring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Wi-Fi module provides communication between the STM32 system and a remote monitoring application/server.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that can be transmitted includes: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Occupancy status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 status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Fan status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usage/energy information</a:t>
            </a:r>
            <a:endParaRPr b="0" i="0" sz="26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486" name="Google Shape;486;p23"/>
          <p:cNvGrpSpPr/>
          <p:nvPr/>
        </p:nvGrpSpPr>
        <p:grpSpPr>
          <a:xfrm rot="-2489170">
            <a:off x="-2037682" y="9255043"/>
            <a:ext cx="7700347" cy="7104336"/>
            <a:chOff x="0" y="-38100"/>
            <a:chExt cx="2028074" cy="1871100"/>
          </a:xfrm>
        </p:grpSpPr>
        <p:sp>
          <p:nvSpPr>
            <p:cNvPr id="487" name="Google Shape;487;p23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488" name="Google Shape;488;p23"/>
            <p:cNvSpPr txBox="1"/>
            <p:nvPr/>
          </p:nvSpPr>
          <p:spPr>
            <a:xfrm>
              <a:off x="0" y="-38100"/>
              <a:ext cx="2028000" cy="18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9" name="Google Shape;489;p23"/>
          <p:cNvGrpSpPr/>
          <p:nvPr/>
        </p:nvGrpSpPr>
        <p:grpSpPr>
          <a:xfrm rot="-2489170">
            <a:off x="-4284949" y="5095722"/>
            <a:ext cx="7700347" cy="13889735"/>
            <a:chOff x="0" y="-38100"/>
            <a:chExt cx="2028074" cy="3658200"/>
          </a:xfrm>
        </p:grpSpPr>
        <p:sp>
          <p:nvSpPr>
            <p:cNvPr id="490" name="Google Shape;490;p23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491" name="Google Shape;491;p23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2" name="Google Shape;492;p23"/>
          <p:cNvGrpSpPr/>
          <p:nvPr/>
        </p:nvGrpSpPr>
        <p:grpSpPr>
          <a:xfrm rot="-2489170">
            <a:off x="-3693503" y="9880600"/>
            <a:ext cx="7700347" cy="2117518"/>
            <a:chOff x="0" y="-38100"/>
            <a:chExt cx="2028074" cy="557700"/>
          </a:xfrm>
        </p:grpSpPr>
        <p:sp>
          <p:nvSpPr>
            <p:cNvPr id="493" name="Google Shape;493;p23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494" name="Google Shape;494;p23"/>
            <p:cNvSpPr txBox="1"/>
            <p:nvPr/>
          </p:nvSpPr>
          <p:spPr>
            <a:xfrm>
              <a:off x="0" y="-38100"/>
              <a:ext cx="2028000" cy="5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5" name="Google Shape;495;p23"/>
          <p:cNvSpPr txBox="1"/>
          <p:nvPr/>
        </p:nvSpPr>
        <p:spPr>
          <a:xfrm>
            <a:off x="1198772" y="353257"/>
            <a:ext cx="1302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93B6A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TECHNICAL IMPLEMENTATION</a:t>
            </a:r>
            <a:endParaRPr b="0" i="0" sz="6000" u="none" cap="none" strike="noStrike">
              <a:solidFill>
                <a:srgbClr val="00000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96" name="Google Shape;496;p23"/>
          <p:cNvSpPr txBox="1"/>
          <p:nvPr/>
        </p:nvSpPr>
        <p:spPr>
          <a:xfrm>
            <a:off x="846125" y="1340925"/>
            <a:ext cx="10221300" cy="17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Hardware Implementation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STM32 is the central controller of the system.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sensors are connected to appropriate STM32 GPIO/ADC/interface pins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97" name="Google Shape;497;p23"/>
          <p:cNvPicPr preferRelativeResize="0"/>
          <p:nvPr/>
        </p:nvPicPr>
        <p:blipFill rotWithShape="1">
          <a:blip r:embed="rId4">
            <a:alphaModFix/>
          </a:blip>
          <a:srcRect b="0" l="0" r="7382" t="8867"/>
          <a:stretch/>
        </p:blipFill>
        <p:spPr>
          <a:xfrm>
            <a:off x="846125" y="3803975"/>
            <a:ext cx="8518950" cy="55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3"/>
          <p:cNvSpPr txBox="1"/>
          <p:nvPr/>
        </p:nvSpPr>
        <p:spPr>
          <a:xfrm>
            <a:off x="10654000" y="2056075"/>
            <a:ext cx="7271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Software Implementation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software can be developed using: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STM32CubeIDE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STM32 HAL Library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Embedded C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STM32CubeMX configuration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ST-LINK debugger/programmer</a:t>
            </a:r>
            <a:endParaRPr b="0" i="0" sz="3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03" name="Google Shape;5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509" name="Google Shape;509;p25"/>
          <p:cNvGrpSpPr/>
          <p:nvPr/>
        </p:nvGrpSpPr>
        <p:grpSpPr>
          <a:xfrm rot="-2489170">
            <a:off x="15608611" y="-1384826"/>
            <a:ext cx="7700347" cy="7104336"/>
            <a:chOff x="0" y="-38100"/>
            <a:chExt cx="2028074" cy="1871100"/>
          </a:xfrm>
        </p:grpSpPr>
        <p:sp>
          <p:nvSpPr>
            <p:cNvPr id="510" name="Google Shape;510;p25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511" name="Google Shape;511;p25"/>
            <p:cNvSpPr txBox="1"/>
            <p:nvPr/>
          </p:nvSpPr>
          <p:spPr>
            <a:xfrm>
              <a:off x="0" y="-38100"/>
              <a:ext cx="2028000" cy="18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2" name="Google Shape;512;p25"/>
          <p:cNvGrpSpPr/>
          <p:nvPr/>
        </p:nvGrpSpPr>
        <p:grpSpPr>
          <a:xfrm rot="-2489170">
            <a:off x="13927432" y="-8544613"/>
            <a:ext cx="7700347" cy="13889735"/>
            <a:chOff x="0" y="-38100"/>
            <a:chExt cx="2028074" cy="3658200"/>
          </a:xfrm>
        </p:grpSpPr>
        <p:sp>
          <p:nvSpPr>
            <p:cNvPr id="513" name="Google Shape;513;p25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514" name="Google Shape;514;p25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5" name="Google Shape;515;p25"/>
          <p:cNvGrpSpPr/>
          <p:nvPr/>
        </p:nvGrpSpPr>
        <p:grpSpPr>
          <a:xfrm rot="-2489170">
            <a:off x="13952729" y="-757696"/>
            <a:ext cx="7700347" cy="2104989"/>
            <a:chOff x="0" y="-38100"/>
            <a:chExt cx="2028074" cy="554400"/>
          </a:xfrm>
        </p:grpSpPr>
        <p:sp>
          <p:nvSpPr>
            <p:cNvPr id="516" name="Google Shape;516;p25"/>
            <p:cNvSpPr/>
            <p:nvPr/>
          </p:nvSpPr>
          <p:spPr>
            <a:xfrm>
              <a:off x="0" y="0"/>
              <a:ext cx="2028074" cy="516174"/>
            </a:xfrm>
            <a:custGeom>
              <a:rect b="b" l="l" r="r" t="t"/>
              <a:pathLst>
                <a:path extrusionOk="0"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517" name="Google Shape;517;p25"/>
            <p:cNvSpPr txBox="1"/>
            <p:nvPr/>
          </p:nvSpPr>
          <p:spPr>
            <a:xfrm>
              <a:off x="0" y="-38100"/>
              <a:ext cx="2028000" cy="5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25"/>
          <p:cNvSpPr txBox="1"/>
          <p:nvPr/>
        </p:nvSpPr>
        <p:spPr>
          <a:xfrm>
            <a:off x="1193850" y="696925"/>
            <a:ext cx="13424400" cy="3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 Integration Testing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individual testing, all components are connected together.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PIR + LDR + STM32 + Relay + Light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Then: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 Sensor + STM32 + Relay + Fan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Finally: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Sensors + STM32 + LCD + Wi-Fi + Appliances</a:t>
            </a:r>
            <a:endParaRPr b="0" i="0" sz="2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9" name="Google Shape;519;p25"/>
          <p:cNvSpPr txBox="1"/>
          <p:nvPr/>
        </p:nvSpPr>
        <p:spPr>
          <a:xfrm>
            <a:off x="1319875" y="4779825"/>
            <a:ext cx="10311300" cy="30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Debugging Tools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STM32CubeIDE debugger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ST-LINK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Serial/UART monitor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STM32CubeMX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LED indicators</a:t>
            </a:r>
            <a:endParaRPr b="0" i="0" sz="3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525" name="Google Shape;525;p26"/>
          <p:cNvGrpSpPr/>
          <p:nvPr/>
        </p:nvGrpSpPr>
        <p:grpSpPr>
          <a:xfrm rot="-2489170">
            <a:off x="15608611" y="-1384826"/>
            <a:ext cx="7700347" cy="7104336"/>
            <a:chOff x="0" y="-38100"/>
            <a:chExt cx="2028074" cy="1871100"/>
          </a:xfrm>
        </p:grpSpPr>
        <p:sp>
          <p:nvSpPr>
            <p:cNvPr id="526" name="Google Shape;526;p26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527" name="Google Shape;527;p26"/>
            <p:cNvSpPr txBox="1"/>
            <p:nvPr/>
          </p:nvSpPr>
          <p:spPr>
            <a:xfrm>
              <a:off x="0" y="-38100"/>
              <a:ext cx="2028000" cy="18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8" name="Google Shape;528;p26"/>
          <p:cNvGrpSpPr/>
          <p:nvPr/>
        </p:nvGrpSpPr>
        <p:grpSpPr>
          <a:xfrm rot="-2489170">
            <a:off x="13927432" y="-8544613"/>
            <a:ext cx="7700347" cy="13889735"/>
            <a:chOff x="0" y="-38100"/>
            <a:chExt cx="2028074" cy="3658200"/>
          </a:xfrm>
        </p:grpSpPr>
        <p:sp>
          <p:nvSpPr>
            <p:cNvPr id="529" name="Google Shape;529;p26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530" name="Google Shape;530;p26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6"/>
          <p:cNvGrpSpPr/>
          <p:nvPr/>
        </p:nvGrpSpPr>
        <p:grpSpPr>
          <a:xfrm rot="-2489170">
            <a:off x="-4284949" y="5095722"/>
            <a:ext cx="7700347" cy="13889735"/>
            <a:chOff x="0" y="-38100"/>
            <a:chExt cx="2028074" cy="3658200"/>
          </a:xfrm>
        </p:grpSpPr>
        <p:sp>
          <p:nvSpPr>
            <p:cNvPr id="532" name="Google Shape;532;p26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533" name="Google Shape;533;p26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6"/>
          <p:cNvGrpSpPr/>
          <p:nvPr/>
        </p:nvGrpSpPr>
        <p:grpSpPr>
          <a:xfrm rot="-2489170">
            <a:off x="13952729" y="-757696"/>
            <a:ext cx="7700347" cy="2104989"/>
            <a:chOff x="0" y="-38100"/>
            <a:chExt cx="2028074" cy="554400"/>
          </a:xfrm>
        </p:grpSpPr>
        <p:sp>
          <p:nvSpPr>
            <p:cNvPr id="535" name="Google Shape;535;p26"/>
            <p:cNvSpPr/>
            <p:nvPr/>
          </p:nvSpPr>
          <p:spPr>
            <a:xfrm>
              <a:off x="0" y="0"/>
              <a:ext cx="2028074" cy="516174"/>
            </a:xfrm>
            <a:custGeom>
              <a:rect b="b" l="l" r="r" t="t"/>
              <a:pathLst>
                <a:path extrusionOk="0"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536" name="Google Shape;536;p26"/>
            <p:cNvSpPr txBox="1"/>
            <p:nvPr/>
          </p:nvSpPr>
          <p:spPr>
            <a:xfrm>
              <a:off x="0" y="-38100"/>
              <a:ext cx="2028000" cy="5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6"/>
          <p:cNvSpPr txBox="1"/>
          <p:nvPr/>
        </p:nvSpPr>
        <p:spPr>
          <a:xfrm>
            <a:off x="1506525" y="1242925"/>
            <a:ext cx="88674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Test Results</a:t>
            </a:r>
            <a:r>
              <a:rPr b="1" i="0" lang="en-US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8" name="Google Shape;538;p26"/>
          <p:cNvGraphicFramePr/>
          <p:nvPr/>
        </p:nvGraphicFramePr>
        <p:xfrm>
          <a:off x="1506525" y="259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{71C8D41C-436D-4A11-AEA7-58886DAC3C85}</a:tableStyleId>
              </a:tblPr>
              <a:tblGrid>
                <a:gridCol w="7166425"/>
                <a:gridCol w="4813275"/>
                <a:gridCol w="1640050"/>
              </a:tblGrid>
              <a:tr h="81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Test Case</a:t>
                      </a:r>
                      <a:endParaRPr sz="3000" u="none" cap="none" strike="noStrike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Expected Result</a:t>
                      </a:r>
                      <a:endParaRPr sz="3000" u="none" cap="none" strike="noStrike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Result</a:t>
                      </a:r>
                      <a:endParaRPr sz="3000" u="none" cap="none" strike="noStrike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Person enters classroom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PIR detects presence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Pass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Classroom is dark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Light turns ON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Pass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Classroom has sufficient light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Light remains OFF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Pass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Temperature exceeds threshold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Fan turns ON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Pass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Temperature decreases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Fan turns OFF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Pass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Sensor data changes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LCD updates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Pass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Wi-Fi connected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Data transmitted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/>
                        <a:t>Pass</a:t>
                      </a:r>
                      <a:endParaRPr sz="30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544" name="Google Shape;544;p27"/>
          <p:cNvGrpSpPr/>
          <p:nvPr/>
        </p:nvGrpSpPr>
        <p:grpSpPr>
          <a:xfrm rot="-2489170">
            <a:off x="13927432" y="-8544613"/>
            <a:ext cx="7700347" cy="13889735"/>
            <a:chOff x="0" y="-38100"/>
            <a:chExt cx="2028074" cy="3658200"/>
          </a:xfrm>
        </p:grpSpPr>
        <p:sp>
          <p:nvSpPr>
            <p:cNvPr id="545" name="Google Shape;545;p27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546" name="Google Shape;546;p27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7" name="Google Shape;547;p27"/>
          <p:cNvGrpSpPr/>
          <p:nvPr/>
        </p:nvGrpSpPr>
        <p:grpSpPr>
          <a:xfrm rot="-2489170">
            <a:off x="-4284949" y="5095722"/>
            <a:ext cx="7700347" cy="13889735"/>
            <a:chOff x="0" y="-38100"/>
            <a:chExt cx="2028074" cy="3658200"/>
          </a:xfrm>
        </p:grpSpPr>
        <p:sp>
          <p:nvSpPr>
            <p:cNvPr id="548" name="Google Shape;548;p27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549" name="Google Shape;549;p27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0" name="Google Shape;550;p27"/>
          <p:cNvGrpSpPr/>
          <p:nvPr/>
        </p:nvGrpSpPr>
        <p:grpSpPr>
          <a:xfrm rot="-2489170">
            <a:off x="15503404" y="-1740546"/>
            <a:ext cx="7700347" cy="2104989"/>
            <a:chOff x="0" y="-38100"/>
            <a:chExt cx="2028074" cy="554400"/>
          </a:xfrm>
        </p:grpSpPr>
        <p:sp>
          <p:nvSpPr>
            <p:cNvPr id="551" name="Google Shape;551;p27"/>
            <p:cNvSpPr/>
            <p:nvPr/>
          </p:nvSpPr>
          <p:spPr>
            <a:xfrm>
              <a:off x="0" y="0"/>
              <a:ext cx="2028074" cy="516174"/>
            </a:xfrm>
            <a:custGeom>
              <a:rect b="b" l="l" r="r" t="t"/>
              <a:pathLst>
                <a:path extrusionOk="0"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552" name="Google Shape;552;p27"/>
            <p:cNvSpPr txBox="1"/>
            <p:nvPr/>
          </p:nvSpPr>
          <p:spPr>
            <a:xfrm>
              <a:off x="0" y="-38100"/>
              <a:ext cx="2028000" cy="5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3" name="Google Shape;553;p27"/>
          <p:cNvSpPr txBox="1"/>
          <p:nvPr/>
        </p:nvSpPr>
        <p:spPr>
          <a:xfrm>
            <a:off x="2239525" y="653227"/>
            <a:ext cx="1302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93B6A"/>
                </a:solidFill>
                <a:latin typeface="Oswald Medium"/>
                <a:ea typeface="Oswald Medium"/>
                <a:cs typeface="Oswald Medium"/>
                <a:sym typeface="Oswald Medium"/>
              </a:rPr>
              <a:t>CHALLENGES &amp; SOLUTIONS</a:t>
            </a:r>
            <a:r>
              <a:rPr b="1" i="0" lang="en-US" sz="6000" u="none" cap="none" strike="noStrike">
                <a:solidFill>
                  <a:srgbClr val="193B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4" name="Google Shape;554;p27"/>
          <p:cNvGraphicFramePr/>
          <p:nvPr/>
        </p:nvGraphicFramePr>
        <p:xfrm>
          <a:off x="925125" y="218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{71C8D41C-436D-4A11-AEA7-58886DAC3C85}</a:tableStyleId>
              </a:tblPr>
              <a:tblGrid>
                <a:gridCol w="6303225"/>
                <a:gridCol w="91905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Challenge</a:t>
                      </a:r>
                      <a:endParaRPr b="1" sz="32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Solution</a:t>
                      </a:r>
                      <a:endParaRPr b="1" sz="32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Sensor readings were inconsistent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Checked wiring, power supply and sensor configuration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Difficulty configuring STM32 pins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Used STM32CubeMX/CubeIDE GPIO configuration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DHT11 communication issues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Implemented correct timing and GPIO configuration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Relay not switching correctly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Checked relay power and GPIO output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LCD not displaying data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Verified I²C connections/address and initialization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Wi-Fi communication problems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Checked UART configuration and baud rate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Debugging embedded code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Used ST-LINK and STM32CubeIDE debugger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Unwanted appliance switching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Added suitable sensor thresholds and control logic</a:t>
                      </a:r>
                      <a:endParaRPr sz="27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8"/>
          <p:cNvSpPr/>
          <p:nvPr/>
        </p:nvSpPr>
        <p:spPr>
          <a:xfrm>
            <a:off x="225375" y="-28575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sp>
        <p:nvSpPr>
          <p:cNvPr id="560" name="Google Shape;560;p28"/>
          <p:cNvSpPr txBox="1"/>
          <p:nvPr/>
        </p:nvSpPr>
        <p:spPr>
          <a:xfrm>
            <a:off x="4231125" y="413425"/>
            <a:ext cx="1027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161515"/>
                </a:solidFill>
                <a:latin typeface="Oswald Medium"/>
                <a:ea typeface="Oswald Medium"/>
                <a:cs typeface="Oswald Medium"/>
                <a:sym typeface="Oswald Medium"/>
              </a:rPr>
              <a:t>CONCLUSION  &amp; OUTCOMES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8"/>
          <p:cNvSpPr txBox="1"/>
          <p:nvPr/>
        </p:nvSpPr>
        <p:spPr>
          <a:xfrm>
            <a:off x="2701600" y="1936725"/>
            <a:ext cx="14202300" cy="43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Classroom Automation System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successfully demonstrates how an STM32-based IoT system can be used to automate classroom appliances and monitor environmental conditions.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integration of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PIR, LDR, and temperature sensors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the system to make decisions based on occupancy, lighting conditions, and temperature. Automatic control of lights and fans helps reduce unnecessary energy consumption while maintaining a comfortable classroom environment.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LCD provides local monitoring, while Wi-Fi connectivity provides the possibility of remote monitoring and energy-management applications.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567" name="Google Shape;567;p29"/>
          <p:cNvGrpSpPr/>
          <p:nvPr/>
        </p:nvGrpSpPr>
        <p:grpSpPr>
          <a:xfrm rot="-2489216">
            <a:off x="-2037718" y="9254989"/>
            <a:ext cx="7700344" cy="7104226"/>
            <a:chOff x="0" y="-38100"/>
            <a:chExt cx="2028074" cy="1871072"/>
          </a:xfrm>
        </p:grpSpPr>
        <p:sp>
          <p:nvSpPr>
            <p:cNvPr id="568" name="Google Shape;568;p29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569" name="Google Shape;569;p29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0" name="Google Shape;570;p29"/>
          <p:cNvGrpSpPr/>
          <p:nvPr/>
        </p:nvGrpSpPr>
        <p:grpSpPr>
          <a:xfrm rot="-2489216">
            <a:off x="-4285080" y="5095687"/>
            <a:ext cx="7700344" cy="13889235"/>
            <a:chOff x="0" y="-38100"/>
            <a:chExt cx="2028074" cy="3658070"/>
          </a:xfrm>
        </p:grpSpPr>
        <p:sp>
          <p:nvSpPr>
            <p:cNvPr id="571" name="Google Shape;571;p29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572" name="Google Shape;572;p29"/>
            <p:cNvSpPr txBox="1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3" name="Google Shape;573;p29"/>
          <p:cNvGrpSpPr/>
          <p:nvPr/>
        </p:nvGrpSpPr>
        <p:grpSpPr>
          <a:xfrm rot="-2489216">
            <a:off x="-3693607" y="9880584"/>
            <a:ext cx="7700344" cy="2117279"/>
            <a:chOff x="0" y="-38100"/>
            <a:chExt cx="2028074" cy="557637"/>
          </a:xfrm>
        </p:grpSpPr>
        <p:sp>
          <p:nvSpPr>
            <p:cNvPr id="574" name="Google Shape;574;p29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575" name="Google Shape;575;p29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6" name="Google Shape;576;p29"/>
          <p:cNvSpPr txBox="1"/>
          <p:nvPr/>
        </p:nvSpPr>
        <p:spPr>
          <a:xfrm>
            <a:off x="16291173" y="8674011"/>
            <a:ext cx="96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7" name="Google Shape;577;p29"/>
          <p:cNvGrpSpPr/>
          <p:nvPr/>
        </p:nvGrpSpPr>
        <p:grpSpPr>
          <a:xfrm rot="7565067">
            <a:off x="-2520681" y="-5514340"/>
            <a:ext cx="7700344" cy="7104226"/>
            <a:chOff x="0" y="-38100"/>
            <a:chExt cx="2028074" cy="1871072"/>
          </a:xfrm>
        </p:grpSpPr>
        <p:sp>
          <p:nvSpPr>
            <p:cNvPr id="578" name="Google Shape;578;p29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579" name="Google Shape;579;p29"/>
            <p:cNvSpPr txBox="1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0" name="Google Shape;580;p29"/>
          <p:cNvGrpSpPr/>
          <p:nvPr/>
        </p:nvGrpSpPr>
        <p:grpSpPr>
          <a:xfrm rot="7565067">
            <a:off x="-2042586" y="-7684708"/>
            <a:ext cx="7700344" cy="9232591"/>
            <a:chOff x="0" y="-38100"/>
            <a:chExt cx="2028074" cy="2431629"/>
          </a:xfrm>
        </p:grpSpPr>
        <p:sp>
          <p:nvSpPr>
            <p:cNvPr id="581" name="Google Shape;581;p29"/>
            <p:cNvSpPr/>
            <p:nvPr/>
          </p:nvSpPr>
          <p:spPr>
            <a:xfrm>
              <a:off x="0" y="0"/>
              <a:ext cx="2028074" cy="2393529"/>
            </a:xfrm>
            <a:custGeom>
              <a:rect b="b" l="l" r="r" t="t"/>
              <a:pathLst>
                <a:path extrusionOk="0"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582" name="Google Shape;582;p29"/>
            <p:cNvSpPr txBox="1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29"/>
          <p:cNvGrpSpPr/>
          <p:nvPr/>
        </p:nvGrpSpPr>
        <p:grpSpPr>
          <a:xfrm rot="7565067">
            <a:off x="-501588" y="-1553148"/>
            <a:ext cx="7700344" cy="2117279"/>
            <a:chOff x="0" y="-38100"/>
            <a:chExt cx="2028074" cy="557637"/>
          </a:xfrm>
        </p:grpSpPr>
        <p:sp>
          <p:nvSpPr>
            <p:cNvPr id="584" name="Google Shape;584;p29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585" name="Google Shape;585;p29"/>
            <p:cNvSpPr txBox="1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" name="Google Shape;586;p29"/>
          <p:cNvSpPr txBox="1"/>
          <p:nvPr/>
        </p:nvSpPr>
        <p:spPr>
          <a:xfrm>
            <a:off x="5185750" y="979775"/>
            <a:ext cx="86925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2"/>
                </a:solidFill>
                <a:latin typeface="Oswald Medium"/>
                <a:ea typeface="Oswald Medium"/>
                <a:cs typeface="Oswald Medium"/>
                <a:sym typeface="Oswald Medium"/>
              </a:rPr>
              <a:t>FUTURE WORKS</a:t>
            </a:r>
            <a:endParaRPr b="0" i="0" sz="6000" u="none" cap="none" strike="noStrike">
              <a:solidFill>
                <a:schemeClr val="dk2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587" name="Google Shape;587;p29"/>
          <p:cNvSpPr txBox="1"/>
          <p:nvPr/>
        </p:nvSpPr>
        <p:spPr>
          <a:xfrm>
            <a:off x="3212350" y="2114575"/>
            <a:ext cx="13424100" cy="54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App: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Remote monitoring and control of classroom devices.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Integration: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Store and analyze sensor and energy data.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Monitoring: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Measure real-time electricity consumption.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Fan Control: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Adjust fan speed based on temperature.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Notifications: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Alerts for high temperature or unnecessary power usage.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Multi-Classroom Support: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 multiple classrooms to one monitoring system.</a:t>
            </a:r>
            <a:endParaRPr b="0" i="0" sz="3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9" l="0" r="0" t="-83419"/>
            </a:stretch>
          </a:blipFill>
          <a:ln>
            <a:noFill/>
          </a:ln>
        </p:spPr>
      </p:sp>
      <p:grpSp>
        <p:nvGrpSpPr>
          <p:cNvPr id="593" name="Google Shape;593;p30"/>
          <p:cNvGrpSpPr/>
          <p:nvPr/>
        </p:nvGrpSpPr>
        <p:grpSpPr>
          <a:xfrm rot="-2489170">
            <a:off x="15608611" y="-1384826"/>
            <a:ext cx="7700347" cy="7104336"/>
            <a:chOff x="0" y="-38100"/>
            <a:chExt cx="2028074" cy="1871100"/>
          </a:xfrm>
        </p:grpSpPr>
        <p:sp>
          <p:nvSpPr>
            <p:cNvPr id="594" name="Google Shape;594;p30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595" name="Google Shape;595;p30"/>
            <p:cNvSpPr txBox="1"/>
            <p:nvPr/>
          </p:nvSpPr>
          <p:spPr>
            <a:xfrm>
              <a:off x="0" y="-38100"/>
              <a:ext cx="2028000" cy="18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6" name="Google Shape;596;p30"/>
          <p:cNvGrpSpPr/>
          <p:nvPr/>
        </p:nvGrpSpPr>
        <p:grpSpPr>
          <a:xfrm rot="-2489170">
            <a:off x="13927432" y="-8544613"/>
            <a:ext cx="7700347" cy="13889735"/>
            <a:chOff x="0" y="-38100"/>
            <a:chExt cx="2028074" cy="3658200"/>
          </a:xfrm>
        </p:grpSpPr>
        <p:sp>
          <p:nvSpPr>
            <p:cNvPr id="597" name="Google Shape;597;p30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598" name="Google Shape;598;p30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" name="Google Shape;599;p30"/>
          <p:cNvGrpSpPr/>
          <p:nvPr/>
        </p:nvGrpSpPr>
        <p:grpSpPr>
          <a:xfrm rot="-2489170">
            <a:off x="-2037682" y="9255043"/>
            <a:ext cx="7700347" cy="7104336"/>
            <a:chOff x="0" y="-38100"/>
            <a:chExt cx="2028074" cy="1871100"/>
          </a:xfrm>
        </p:grpSpPr>
        <p:sp>
          <p:nvSpPr>
            <p:cNvPr id="600" name="Google Shape;600;p30"/>
            <p:cNvSpPr/>
            <p:nvPr/>
          </p:nvSpPr>
          <p:spPr>
            <a:xfrm>
              <a:off x="0" y="0"/>
              <a:ext cx="2028074" cy="1832972"/>
            </a:xfrm>
            <a:custGeom>
              <a:rect b="b" l="l" r="r" t="t"/>
              <a:pathLst>
                <a:path extrusionOk="0"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  <a:ln>
              <a:noFill/>
            </a:ln>
          </p:spPr>
        </p:sp>
        <p:sp>
          <p:nvSpPr>
            <p:cNvPr id="601" name="Google Shape;601;p30"/>
            <p:cNvSpPr txBox="1"/>
            <p:nvPr/>
          </p:nvSpPr>
          <p:spPr>
            <a:xfrm>
              <a:off x="0" y="-38100"/>
              <a:ext cx="2028000" cy="18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2" name="Google Shape;602;p30"/>
          <p:cNvGrpSpPr/>
          <p:nvPr/>
        </p:nvGrpSpPr>
        <p:grpSpPr>
          <a:xfrm rot="-2489170">
            <a:off x="-4284949" y="5095722"/>
            <a:ext cx="7700347" cy="13889735"/>
            <a:chOff x="0" y="-38100"/>
            <a:chExt cx="2028074" cy="3658200"/>
          </a:xfrm>
        </p:grpSpPr>
        <p:sp>
          <p:nvSpPr>
            <p:cNvPr id="603" name="Google Shape;603;p30"/>
            <p:cNvSpPr/>
            <p:nvPr/>
          </p:nvSpPr>
          <p:spPr>
            <a:xfrm>
              <a:off x="0" y="0"/>
              <a:ext cx="2028074" cy="3619970"/>
            </a:xfrm>
            <a:custGeom>
              <a:rect b="b" l="l" r="r" t="t"/>
              <a:pathLst>
                <a:path extrusionOk="0"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  <a:ln>
              <a:noFill/>
            </a:ln>
          </p:spPr>
        </p:sp>
        <p:sp>
          <p:nvSpPr>
            <p:cNvPr id="604" name="Google Shape;604;p30"/>
            <p:cNvSpPr txBox="1"/>
            <p:nvPr/>
          </p:nvSpPr>
          <p:spPr>
            <a:xfrm>
              <a:off x="0" y="-38100"/>
              <a:ext cx="2028000" cy="36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5" name="Google Shape;605;p30"/>
          <p:cNvGrpSpPr/>
          <p:nvPr/>
        </p:nvGrpSpPr>
        <p:grpSpPr>
          <a:xfrm rot="-2489170">
            <a:off x="13952729" y="-757696"/>
            <a:ext cx="7700347" cy="2104989"/>
            <a:chOff x="0" y="-38100"/>
            <a:chExt cx="2028074" cy="554400"/>
          </a:xfrm>
        </p:grpSpPr>
        <p:sp>
          <p:nvSpPr>
            <p:cNvPr id="606" name="Google Shape;606;p30"/>
            <p:cNvSpPr/>
            <p:nvPr/>
          </p:nvSpPr>
          <p:spPr>
            <a:xfrm>
              <a:off x="0" y="0"/>
              <a:ext cx="2028074" cy="516174"/>
            </a:xfrm>
            <a:custGeom>
              <a:rect b="b" l="l" r="r" t="t"/>
              <a:pathLst>
                <a:path extrusionOk="0"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607" name="Google Shape;607;p30"/>
            <p:cNvSpPr txBox="1"/>
            <p:nvPr/>
          </p:nvSpPr>
          <p:spPr>
            <a:xfrm>
              <a:off x="0" y="-38100"/>
              <a:ext cx="2028000" cy="5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8" name="Google Shape;608;p30"/>
          <p:cNvGrpSpPr/>
          <p:nvPr/>
        </p:nvGrpSpPr>
        <p:grpSpPr>
          <a:xfrm rot="-2489170">
            <a:off x="-3693503" y="9880600"/>
            <a:ext cx="7700347" cy="2117518"/>
            <a:chOff x="0" y="-38100"/>
            <a:chExt cx="2028074" cy="557700"/>
          </a:xfrm>
        </p:grpSpPr>
        <p:sp>
          <p:nvSpPr>
            <p:cNvPr id="609" name="Google Shape;609;p30"/>
            <p:cNvSpPr/>
            <p:nvPr/>
          </p:nvSpPr>
          <p:spPr>
            <a:xfrm>
              <a:off x="0" y="0"/>
              <a:ext cx="2028074" cy="519537"/>
            </a:xfrm>
            <a:custGeom>
              <a:rect b="b" l="l" r="r" t="t"/>
              <a:pathLst>
                <a:path extrusionOk="0"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  <a:ln>
              <a:noFill/>
            </a:ln>
          </p:spPr>
        </p:sp>
        <p:sp>
          <p:nvSpPr>
            <p:cNvPr id="610" name="Google Shape;610;p30"/>
            <p:cNvSpPr txBox="1"/>
            <p:nvPr/>
          </p:nvSpPr>
          <p:spPr>
            <a:xfrm>
              <a:off x="0" y="-38100"/>
              <a:ext cx="2028000" cy="5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1" name="Google Shape;611;p30"/>
          <p:cNvSpPr txBox="1"/>
          <p:nvPr/>
        </p:nvSpPr>
        <p:spPr>
          <a:xfrm>
            <a:off x="2632672" y="3972757"/>
            <a:ext cx="13022700" cy="1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75"/>
              <a:buFont typeface="Arial"/>
              <a:buNone/>
            </a:pPr>
            <a:r>
              <a:rPr b="0" i="0" lang="en-US" sz="11775" u="none" cap="none" strike="noStrike">
                <a:solidFill>
                  <a:srgbClr val="193B6A"/>
                </a:solidFill>
                <a:latin typeface="Oswald Medium"/>
                <a:ea typeface="Oswald Medium"/>
                <a:cs typeface="Oswald Medium"/>
                <a:sym typeface="Oswald Medium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